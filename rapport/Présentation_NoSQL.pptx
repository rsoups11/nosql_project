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Merriweather"/>
      <p:regular r:id="rId11"/>
      <p:bold r:id="rId12"/>
      <p:italic r:id="rId13"/>
      <p:boldItalic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regular.fntdata"/><Relationship Id="rId10" Type="http://schemas.openxmlformats.org/officeDocument/2006/relationships/slide" Target="slides/slide5.xml"/><Relationship Id="rId13" Type="http://schemas.openxmlformats.org/officeDocument/2006/relationships/font" Target="fonts/Merriweather-italic.fntdata"/><Relationship Id="rId12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font" Target="fonts/Merriweather-boldItalic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0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4278510"/>
            <a:ext cx="45720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8388" y="971315"/>
            <a:ext cx="9734550" cy="484241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595437" y="1588740"/>
            <a:ext cx="9001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Interrogation et Analyse de Données Protéiques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89600" y="4224315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Querying and analyzing protein data using MongoDB and Neo4j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5050035"/>
            <a:ext cx="8572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Times"/>
                <a:ea typeface="Times"/>
                <a:cs typeface="Times"/>
                <a:sym typeface="Times"/>
              </a:rPr>
              <a:t>Moh-Ouali Amrouni • Mathis Fabre • Raphaël Soupaya-Villiama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533550" y="3553035"/>
            <a:ext cx="85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Times"/>
                <a:ea typeface="Times"/>
                <a:cs typeface="Times"/>
                <a:sym typeface="Times"/>
              </a:rPr>
              <a:t>Projet Bases de données NoSQL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" y="5325045"/>
            <a:ext cx="5238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3621825" y="1362678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MongoDB &amp; FastAPI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200850"/>
            <a:ext cx="52196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14375" y="2080471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Import en une seule requete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Lecture du TSV, remplit MongoDB d’un coup (insertion “bulk”)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3151279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API FastAPI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endpoints pour </a:t>
            </a: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charger 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les données et </a:t>
            </a: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rechercher 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des protéines avec 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filtres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/regex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4349700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tockage des documents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1 protéine = 1 document (Entry, organism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..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), facile à requêter et à faire évoluer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377428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D4BF"/>
                </a:solidFill>
                <a:latin typeface="Merriweather"/>
                <a:ea typeface="Merriweather"/>
                <a:cs typeface="Merriweather"/>
                <a:sym typeface="Merriweather"/>
              </a:rPr>
              <a:t>Tâche 1 : Base de Documents (MongoDB)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139428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0050" y="21145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0050" y="315127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0050" y="434970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20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323850" y="252250"/>
            <a:ext cx="520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D4BF"/>
                </a:solidFill>
                <a:latin typeface="Merriweather"/>
                <a:ea typeface="Merriweather"/>
                <a:cs typeface="Merriweather"/>
                <a:sym typeface="Merriweather"/>
              </a:rPr>
              <a:t>Tâche 2 : Construction du Graphe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1966750"/>
            <a:ext cx="4953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Naïf “tout contre tout”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: </a:t>
            </a:r>
            <a:r>
              <a:rPr lang="en-US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comparaison de toutes les protéines </a:t>
            </a:r>
            <a:r>
              <a:rPr lang="en-US" sz="1350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→ complexité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O(N²)</a:t>
            </a:r>
            <a:r>
              <a:rPr lang="en-US" sz="1350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 (impossible à grande échelle).</a:t>
            </a:r>
            <a:endParaRPr>
              <a:solidFill>
                <a:srgbClr val="F1F5F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903242"/>
            <a:ext cx="520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r>
              <a:rPr b="1" i="0" lang="en-US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 : </a:t>
            </a:r>
            <a:r>
              <a:rPr lang="en-US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index inversé (InterPro → protéines): </a:t>
            </a:r>
            <a:endParaRPr>
              <a:solidFill>
                <a:srgbClr val="F8FAF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pour récupérer rapidement des candidats → </a:t>
            </a: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O(N)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pour la recherche de voisins.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137251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Calcul de similarité via l'</a:t>
            </a:r>
            <a:r>
              <a:rPr b="1" i="0" lang="en-US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Indice de Jaccard</a:t>
            </a:r>
            <a:r>
              <a:rPr i="0" lang="en-US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>
              <a:solidFill>
                <a:srgbClr val="F8FAF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8094464"/>
            <a:ext cx="4953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Neo4j est utilisé pour visualiser uniquement le sous-graphe local pertinent (Ego-Graph) à la demande.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2300" y="-520600"/>
            <a:ext cx="6371800" cy="7378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5482" y="4554341"/>
            <a:ext cx="2402085" cy="50512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47750" y="5186050"/>
            <a:ext cx="4953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puis création d’un </a:t>
            </a: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ego-graph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(protéine + voisins au-dessus d’un seuil).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50" y="196673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50" y="290323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50" y="415445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7650" y="2985205"/>
            <a:ext cx="4953000" cy="6247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1574675"/>
            <a:ext cx="823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Propagation de Labels Pondérée : </a:t>
            </a:r>
            <a:r>
              <a:rPr lang="en-US" sz="2100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Approche semi-supervisé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90675" y="2608075"/>
            <a:ext cx="4953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US" sz="135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omplétion de Liens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i="0" lang="en-US" sz="1350" u="none" cap="none" strike="noStrike">
                <a:solidFill>
                  <a:srgbClr val="CBD5E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Entrée → voisins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: on construit l’ego-graph via InterPro/Jaccard (seuil).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30600" y="4305384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Vote Pondéré :</a:t>
            </a:r>
            <a:r>
              <a:rPr i="0" lang="en-US" sz="135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Les voisins "votent" pour une fonction basée sur leur score de similarité.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827700" y="2608053"/>
            <a:ext cx="495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Algorithme :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27575" y="3900785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Résultat 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Les Top-K numéros EC prédits sont assignés à la protéine cible.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392608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D4BF"/>
                </a:solidFill>
                <a:latin typeface="Merriweather"/>
                <a:ea typeface="Merriweather"/>
                <a:cs typeface="Merriweather"/>
                <a:sym typeface="Merriweather"/>
              </a:rPr>
              <a:t>Tâche 4 : Annotation Fonctionnelle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154608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" y="265811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" y="451408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2152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623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" y="3428989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30600" y="3429000"/>
            <a:ext cx="566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Propagation de labels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: seuls les voisins </a:t>
            </a: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déjà annotés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contribuent.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137" y="1864965"/>
            <a:ext cx="6943725" cy="312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3060620" y="2445990"/>
            <a:ext cx="60707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DD4BF"/>
                </a:solidFill>
                <a:latin typeface="Merriweather"/>
                <a:ea typeface="Merriweather"/>
                <a:cs typeface="Merriweather"/>
                <a:sym typeface="Merriweather"/>
              </a:rPr>
              <a:t>Démonstration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205162" y="3493740"/>
            <a:ext cx="57816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Présentation du Backend FastAPI &amp; Visualisation Neo4j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811315" y="4240410"/>
            <a:ext cx="126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